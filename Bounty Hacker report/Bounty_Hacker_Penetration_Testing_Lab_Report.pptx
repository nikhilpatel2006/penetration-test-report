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71" r:id="rId6"/>
    <p:sldId id="270" r:id="rId7"/>
    <p:sldId id="260" r:id="rId8"/>
    <p:sldId id="267" r:id="rId9"/>
    <p:sldId id="266" r:id="rId10"/>
    <p:sldId id="261" r:id="rId11"/>
    <p:sldId id="268" r:id="rId12"/>
    <p:sldId id="262" r:id="rId13"/>
    <p:sldId id="269" r:id="rId14"/>
    <p:sldId id="263" r:id="rId15"/>
    <p:sldId id="264" r:id="rId16"/>
    <p:sldId id="265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9290F2-59DD-46A5-BDC9-50A7E9991D26}" type="datetimeFigureOut">
              <a:rPr lang="en-IN" smtClean="0"/>
              <a:t>17-10-2026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F29EF2-64CD-4279-9675-A4F4348377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874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F29EF2-64CD-4279-9675-A4F4348377B2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33960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17-Oct-26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17-Oct-26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17-Oct-26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17-Oct-26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17-Oct-26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17-Oct-26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17-Oct-26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17-Oct-26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17-Oct-26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17-Oct-26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17-Oct-26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17-Oct-26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869680" y="0"/>
            <a:ext cx="3322015" cy="6858000"/>
          </a:xfrm>
          <a:prstGeom prst="rect">
            <a:avLst/>
          </a:prstGeom>
          <a:solidFill>
            <a:srgbClr val="14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9372600" y="1280160"/>
            <a:ext cx="1325880" cy="640080"/>
          </a:xfrm>
          <a:prstGeom prst="line">
            <a:avLst/>
          </a:prstGeom>
          <a:ln w="19050">
            <a:solidFill>
              <a:srgbClr val="36D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V="1">
            <a:off x="10698480" y="1097280"/>
            <a:ext cx="640080" cy="822960"/>
          </a:xfrm>
          <a:prstGeom prst="line">
            <a:avLst/>
          </a:prstGeom>
          <a:ln w="19050">
            <a:solidFill>
              <a:srgbClr val="36D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0698480" y="1920240"/>
            <a:ext cx="457200" cy="1097280"/>
          </a:xfrm>
          <a:prstGeom prst="line">
            <a:avLst/>
          </a:prstGeom>
          <a:ln w="19050">
            <a:solidFill>
              <a:srgbClr val="36D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372600" y="1280160"/>
            <a:ext cx="320040" cy="1463040"/>
          </a:xfrm>
          <a:prstGeom prst="line">
            <a:avLst/>
          </a:prstGeom>
          <a:ln w="19050">
            <a:solidFill>
              <a:srgbClr val="36D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9692640" y="2743200"/>
            <a:ext cx="1463040" cy="274320"/>
          </a:xfrm>
          <a:prstGeom prst="line">
            <a:avLst/>
          </a:prstGeom>
          <a:ln w="19050">
            <a:solidFill>
              <a:srgbClr val="36D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692640" y="2743200"/>
            <a:ext cx="548640" cy="1463040"/>
          </a:xfrm>
          <a:prstGeom prst="line">
            <a:avLst/>
          </a:prstGeom>
          <a:ln w="19050">
            <a:solidFill>
              <a:srgbClr val="36D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0241280" y="4206240"/>
            <a:ext cx="1097280" cy="731520"/>
          </a:xfrm>
          <a:prstGeom prst="line">
            <a:avLst/>
          </a:prstGeom>
          <a:ln w="19050">
            <a:solidFill>
              <a:srgbClr val="36D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1155680" y="3017520"/>
            <a:ext cx="182880" cy="1920240"/>
          </a:xfrm>
          <a:prstGeom prst="line">
            <a:avLst/>
          </a:prstGeom>
          <a:ln w="19050">
            <a:solidFill>
              <a:srgbClr val="36D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9290304" y="1197863"/>
            <a:ext cx="164592" cy="164592"/>
          </a:xfrm>
          <a:prstGeom prst="ellipse">
            <a:avLst/>
          </a:prstGeom>
          <a:solidFill>
            <a:srgbClr val="36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0616184" y="1837944"/>
            <a:ext cx="164592" cy="164592"/>
          </a:xfrm>
          <a:prstGeom prst="ellipse">
            <a:avLst/>
          </a:prstGeom>
          <a:solidFill>
            <a:srgbClr val="36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1256264" y="1014983"/>
            <a:ext cx="164592" cy="164592"/>
          </a:xfrm>
          <a:prstGeom prst="ellipse">
            <a:avLst/>
          </a:prstGeom>
          <a:solidFill>
            <a:srgbClr val="36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1073384" y="2935224"/>
            <a:ext cx="164592" cy="164592"/>
          </a:xfrm>
          <a:prstGeom prst="ellipse">
            <a:avLst/>
          </a:prstGeom>
          <a:solidFill>
            <a:srgbClr val="36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610344" y="2660904"/>
            <a:ext cx="164592" cy="164592"/>
          </a:xfrm>
          <a:prstGeom prst="ellipse">
            <a:avLst/>
          </a:prstGeom>
          <a:solidFill>
            <a:srgbClr val="36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0158984" y="4123944"/>
            <a:ext cx="164592" cy="164592"/>
          </a:xfrm>
          <a:prstGeom prst="ellipse">
            <a:avLst/>
          </a:prstGeom>
          <a:solidFill>
            <a:srgbClr val="36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1256264" y="4855464"/>
            <a:ext cx="164592" cy="164592"/>
          </a:xfrm>
          <a:prstGeom prst="ellipse">
            <a:avLst/>
          </a:prstGeom>
          <a:solidFill>
            <a:srgbClr val="36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20" y="822960"/>
            <a:ext cx="768096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36D3DC"/>
                </a:solidFill>
                <a:latin typeface="Aptos"/>
              </a:rPr>
              <a:t>CYBERSECURITY  /  PRACTICAL ASSESSMENT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1508760"/>
            <a:ext cx="7680960" cy="16916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200" b="1">
                <a:solidFill>
                  <a:srgbClr val="F0F6FF"/>
                </a:solidFill>
                <a:latin typeface="Aptos"/>
              </a:rPr>
              <a:t>BOUNTY
HACKER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3429000"/>
            <a:ext cx="7498079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 dirty="0">
                <a:solidFill>
                  <a:srgbClr val="AAB9CF"/>
                </a:solidFill>
                <a:latin typeface="Aptos"/>
              </a:rPr>
              <a:t>Penetration Testing Lab Report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" y="4069080"/>
            <a:ext cx="7223760" cy="57246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400"/>
              </a:spcAft>
            </a:pPr>
            <a:r>
              <a:rPr lang="en-US" sz="1500" b="0" dirty="0">
                <a:solidFill>
                  <a:srgbClr val="36D3DC"/>
                </a:solidFill>
                <a:latin typeface="Aptos"/>
              </a:rPr>
              <a:t>Project title : Modeling Data leakage pathways and archive command privilege  escalation in cloud services</a:t>
            </a:r>
            <a:endParaRPr sz="1500" b="0" dirty="0">
              <a:solidFill>
                <a:srgbClr val="36D3DC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68096" y="5166360"/>
            <a:ext cx="6217920" cy="3416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dirty="0">
                <a:solidFill>
                  <a:srgbClr val="F0F6FF"/>
                </a:solidFill>
                <a:latin typeface="Aptos"/>
              </a:rPr>
              <a:t>Prepared by: </a:t>
            </a:r>
            <a:r>
              <a:rPr lang="en-US" sz="1500" dirty="0">
                <a:solidFill>
                  <a:srgbClr val="F0F6FF"/>
                </a:solidFill>
                <a:latin typeface="Aptos"/>
              </a:rPr>
              <a:t>Nikhil Patel </a:t>
            </a:r>
            <a:endParaRPr sz="1500" b="0" dirty="0">
              <a:solidFill>
                <a:srgbClr val="F0F6FF"/>
              </a:solidFill>
              <a:latin typeface="Apto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68096" y="5559552"/>
            <a:ext cx="6858000" cy="326243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lang="en-US" sz="1400" dirty="0">
                <a:solidFill>
                  <a:srgbClr val="AAB9CF"/>
                </a:solidFill>
                <a:latin typeface="Aptos"/>
              </a:rPr>
              <a:t>Collage : Rungta College of Engineering and technology </a:t>
            </a:r>
            <a:endParaRPr sz="1400" b="0" dirty="0">
              <a:solidFill>
                <a:srgbClr val="AAB9CF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731520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36D3DC"/>
                </a:solidFill>
                <a:latin typeface="Aptos"/>
              </a:rPr>
              <a:t>01 /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10972800" cy="56692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F0F6FF"/>
                </a:solidFill>
                <a:latin typeface="Aptos"/>
              </a:rPr>
              <a:t>Project objective &amp;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89888"/>
            <a:ext cx="10881360" cy="42062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AAB9CF"/>
                </a:solidFill>
                <a:latin typeface="Aptos"/>
              </a:rPr>
              <a:t>A controlled learning exercise focused on enumeration, access validation and privilege review.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865376"/>
            <a:ext cx="731520" cy="41148"/>
          </a:xfrm>
          <a:prstGeom prst="rect">
            <a:avLst/>
          </a:prstGeom>
          <a:solidFill>
            <a:srgbClr val="36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AAB9CF"/>
                </a:solidFill>
                <a:latin typeface="Aptos"/>
              </a:rPr>
              <a:t>BOUNTY HACKER  /  TRYHACKME LAB REPORT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55664"/>
            <a:ext cx="86868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>
                <a:solidFill>
                  <a:srgbClr val="36D3DC"/>
                </a:solidFill>
                <a:latin typeface="Aptos"/>
              </a:rPr>
              <a:t>02  / 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212848"/>
            <a:ext cx="3520440" cy="1417320"/>
          </a:xfrm>
          <a:prstGeom prst="roundRect">
            <a:avLst/>
          </a:prstGeom>
          <a:solidFill>
            <a:srgbClr val="141F36"/>
          </a:solidFill>
          <a:ln>
            <a:solidFill>
              <a:srgbClr val="192A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0391" y="2238535"/>
            <a:ext cx="3191256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dirty="0">
                <a:solidFill>
                  <a:srgbClr val="36D3DC"/>
                </a:solidFill>
                <a:latin typeface="Aptos"/>
              </a:rPr>
              <a:t>OBJECTIVE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1" y="2500363"/>
            <a:ext cx="3191256" cy="118801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400"/>
              </a:spcAft>
            </a:pPr>
            <a:r>
              <a:rPr lang="en-US" sz="1400" b="0" dirty="0">
                <a:solidFill>
                  <a:srgbClr val="F0F6FF"/>
                </a:solidFill>
                <a:latin typeface="Aptos"/>
              </a:rPr>
              <a:t>To assess the target’s exposed services, investigate potential security weaknesses, and review privilege permission in the authorized </a:t>
            </a:r>
            <a:r>
              <a:rPr lang="en-US" sz="1400" b="0" dirty="0" err="1">
                <a:solidFill>
                  <a:srgbClr val="F0F6FF"/>
                </a:solidFill>
                <a:latin typeface="Aptos"/>
              </a:rPr>
              <a:t>TryHackMe</a:t>
            </a:r>
            <a:r>
              <a:rPr lang="en-US" sz="1400" b="0" dirty="0">
                <a:solidFill>
                  <a:srgbClr val="F0F6FF"/>
                </a:solidFill>
                <a:latin typeface="Aptos"/>
              </a:rPr>
              <a:t> Bounty hacker lab.</a:t>
            </a:r>
            <a:endParaRPr sz="1400" b="0" dirty="0">
              <a:solidFill>
                <a:srgbClr val="F0F6FF"/>
              </a:solidFill>
              <a:latin typeface="Apto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343400" y="2212848"/>
            <a:ext cx="3520440" cy="1417320"/>
          </a:xfrm>
          <a:prstGeom prst="roundRect">
            <a:avLst/>
          </a:prstGeom>
          <a:solidFill>
            <a:srgbClr val="141F36"/>
          </a:solidFill>
          <a:ln>
            <a:solidFill>
              <a:srgbClr val="192A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53712" y="2238535"/>
            <a:ext cx="3191256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dirty="0">
                <a:solidFill>
                  <a:srgbClr val="FFC352"/>
                </a:solidFill>
                <a:latin typeface="Aptos"/>
              </a:rPr>
              <a:t>SCOPE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2474624"/>
            <a:ext cx="3191256" cy="97257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400"/>
              </a:spcAft>
            </a:pPr>
            <a:r>
              <a:rPr lang="en-US" sz="1400" b="0" dirty="0">
                <a:solidFill>
                  <a:srgbClr val="F0F6FF"/>
                </a:solidFill>
                <a:latin typeface="Aptos"/>
              </a:rPr>
              <a:t>The assessment is limited to the assigned </a:t>
            </a:r>
            <a:r>
              <a:rPr lang="en-US" sz="1400" b="0" dirty="0" err="1">
                <a:solidFill>
                  <a:srgbClr val="F0F6FF"/>
                </a:solidFill>
                <a:latin typeface="Aptos"/>
              </a:rPr>
              <a:t>TryHack</a:t>
            </a:r>
            <a:r>
              <a:rPr lang="en-US" sz="1400" dirty="0" err="1">
                <a:solidFill>
                  <a:srgbClr val="F0F6FF"/>
                </a:solidFill>
                <a:latin typeface="Aptos"/>
              </a:rPr>
              <a:t>Me</a:t>
            </a:r>
            <a:r>
              <a:rPr lang="en-US" sz="1400" dirty="0">
                <a:solidFill>
                  <a:srgbClr val="F0F6FF"/>
                </a:solidFill>
                <a:latin typeface="Aptos"/>
              </a:rPr>
              <a:t> Bounty Hacker machine lab it’s authorize lab environment.</a:t>
            </a:r>
            <a:endParaRPr sz="1400" b="0" dirty="0">
              <a:solidFill>
                <a:srgbClr val="F0F6FF"/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046720" y="2212848"/>
            <a:ext cx="3520440" cy="1417320"/>
          </a:xfrm>
          <a:prstGeom prst="roundRect">
            <a:avLst/>
          </a:prstGeom>
          <a:solidFill>
            <a:srgbClr val="141F36"/>
          </a:solidFill>
          <a:ln>
            <a:solidFill>
              <a:srgbClr val="192A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57032" y="2238535"/>
            <a:ext cx="3191256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71E0AD"/>
                </a:solidFill>
                <a:latin typeface="Aptos"/>
              </a:rPr>
              <a:t>OUTPUT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57032" y="2455574"/>
            <a:ext cx="3191256" cy="97257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400"/>
              </a:spcAft>
            </a:pPr>
            <a:r>
              <a:rPr lang="en-US" sz="1400" b="0" dirty="0">
                <a:solidFill>
                  <a:srgbClr val="F0F6FF"/>
                </a:solidFill>
                <a:latin typeface="Aptos"/>
              </a:rPr>
              <a:t>A technical report containing verified findings, supporting screenshots, risk assessment, and remediation recommendations.</a:t>
            </a:r>
            <a:endParaRPr sz="1400" b="0" dirty="0">
              <a:solidFill>
                <a:srgbClr val="F0F6FF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49808" y="4069080"/>
            <a:ext cx="10698480" cy="1554480"/>
          </a:xfrm>
          <a:prstGeom prst="rect">
            <a:avLst/>
          </a:prstGeom>
          <a:noFill/>
        </p:spPr>
        <p:txBody>
          <a:bodyPr wrap="square" lIns="109728" tIns="91440" rIns="109728" bIns="54864">
            <a:spAutoFit/>
          </a:bodyPr>
          <a:lstStyle/>
          <a:p>
            <a:pPr>
              <a:spcAft>
                <a:spcPts val="1200"/>
              </a:spcAft>
            </a:pPr>
            <a:r>
              <a:rPr sz="1600" b="1" dirty="0">
                <a:solidFill>
                  <a:srgbClr val="36D3DC"/>
                </a:solidFill>
                <a:latin typeface="Aptos"/>
              </a:rPr>
              <a:t>Assessment type: </a:t>
            </a:r>
            <a:r>
              <a:rPr sz="1600" dirty="0">
                <a:solidFill>
                  <a:srgbClr val="F0F6FF"/>
                </a:solidFill>
                <a:latin typeface="Aptos"/>
              </a:rPr>
              <a:t>CTF / educational penetration-testing lab</a:t>
            </a:r>
          </a:p>
          <a:p>
            <a:pPr>
              <a:spcAft>
                <a:spcPts val="1200"/>
              </a:spcAft>
            </a:pPr>
            <a:r>
              <a:rPr sz="1600" b="1" dirty="0">
                <a:solidFill>
                  <a:srgbClr val="36D3DC"/>
                </a:solidFill>
                <a:latin typeface="Aptos"/>
              </a:rPr>
              <a:t>Evidence rule: </a:t>
            </a:r>
            <a:r>
              <a:rPr sz="1600" dirty="0">
                <a:solidFill>
                  <a:srgbClr val="F0F6FF"/>
                </a:solidFill>
                <a:latin typeface="Aptos"/>
              </a:rPr>
              <a:t>Replace placeholders with screenshots from your own run; do not claim unverified results.</a:t>
            </a:r>
          </a:p>
          <a:p>
            <a:pPr>
              <a:spcAft>
                <a:spcPts val="1200"/>
              </a:spcAft>
            </a:pPr>
            <a:r>
              <a:rPr sz="1600" b="1" dirty="0">
                <a:solidFill>
                  <a:srgbClr val="36D3DC"/>
                </a:solidFill>
                <a:latin typeface="Aptos"/>
              </a:rPr>
              <a:t>Safety boundary: </a:t>
            </a:r>
            <a:r>
              <a:rPr sz="1600" dirty="0">
                <a:solidFill>
                  <a:srgbClr val="F0F6FF"/>
                </a:solidFill>
                <a:latin typeface="Aptos"/>
              </a:rPr>
              <a:t>Do not scan or test systems outside the authorized lab.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731520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36D3DC"/>
                </a:solidFill>
                <a:latin typeface="Aptos"/>
              </a:rPr>
              <a:t>02 /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10972800" cy="56692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F0F6FF"/>
                </a:solidFill>
                <a:latin typeface="Aptos"/>
              </a:rPr>
              <a:t>Tools &amp;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89888"/>
            <a:ext cx="10881360" cy="42062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AAB9CF"/>
                </a:solidFill>
                <a:latin typeface="Aptos"/>
              </a:rPr>
              <a:t>The exact output depends on the currently deployed room instance.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865376"/>
            <a:ext cx="731520" cy="41148"/>
          </a:xfrm>
          <a:prstGeom prst="rect">
            <a:avLst/>
          </a:prstGeom>
          <a:solidFill>
            <a:srgbClr val="36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AAB9CF"/>
                </a:solidFill>
                <a:latin typeface="Aptos"/>
              </a:rPr>
              <a:t>BOUNTY HACKER  /  TRYHACKME LAB REPORT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55664"/>
            <a:ext cx="86868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>
                <a:solidFill>
                  <a:srgbClr val="36D3DC"/>
                </a:solidFill>
                <a:latin typeface="Aptos"/>
              </a:rPr>
              <a:t>03  / 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2331720"/>
            <a:ext cx="2057400" cy="2057400"/>
          </a:xfrm>
          <a:prstGeom prst="roundRect">
            <a:avLst/>
          </a:prstGeom>
          <a:solidFill>
            <a:srgbClr val="141F36"/>
          </a:solidFill>
          <a:ln>
            <a:solidFill>
              <a:srgbClr val="192A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2423160"/>
            <a:ext cx="41148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36D3DC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1" y="2409443"/>
            <a:ext cx="1539241" cy="326243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dirty="0">
                <a:solidFill>
                  <a:srgbClr val="F0F6FF"/>
                </a:solidFill>
                <a:latin typeface="Aptos"/>
              </a:rPr>
              <a:t>Reconnaissance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756917"/>
            <a:ext cx="1728216" cy="859723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lang="en-US" sz="1050" b="0" dirty="0">
                <a:solidFill>
                  <a:srgbClr val="AAB9CF"/>
                </a:solidFill>
                <a:latin typeface="Aptos"/>
              </a:rPr>
              <a:t>Tool : Nmap</a:t>
            </a:r>
          </a:p>
          <a:p>
            <a:pPr algn="l">
              <a:spcAft>
                <a:spcPts val="400"/>
              </a:spcAft>
            </a:pPr>
            <a:r>
              <a:rPr sz="1050" b="0" dirty="0">
                <a:solidFill>
                  <a:srgbClr val="AAB9CF"/>
                </a:solidFill>
                <a:latin typeface="Aptos"/>
              </a:rPr>
              <a:t>Identify target IP and map exposed services.</a:t>
            </a:r>
            <a:endParaRPr lang="en-US" sz="1050" b="0" dirty="0">
              <a:solidFill>
                <a:srgbClr val="AAB9CF"/>
              </a:solidFill>
              <a:latin typeface="Aptos"/>
            </a:endParaRPr>
          </a:p>
          <a:p>
            <a:pPr algn="l">
              <a:spcAft>
                <a:spcPts val="400"/>
              </a:spcAft>
            </a:pPr>
            <a:endParaRPr sz="1050" b="0" dirty="0">
              <a:solidFill>
                <a:srgbClr val="AAB9CF"/>
              </a:solidFill>
              <a:latin typeface="Apto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980944" y="2331720"/>
            <a:ext cx="2057400" cy="2057400"/>
          </a:xfrm>
          <a:prstGeom prst="roundRect">
            <a:avLst/>
          </a:prstGeom>
          <a:solidFill>
            <a:srgbClr val="141F36"/>
          </a:solidFill>
          <a:ln>
            <a:solidFill>
              <a:srgbClr val="192A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090672" y="2423160"/>
            <a:ext cx="41148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36D3DC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46704" y="2399613"/>
            <a:ext cx="132588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dirty="0">
                <a:solidFill>
                  <a:srgbClr val="F0F6FF"/>
                </a:solidFill>
                <a:latin typeface="Aptos"/>
              </a:rPr>
              <a:t>Enumeration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79457" y="2735686"/>
            <a:ext cx="1728216" cy="64684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lang="en-US" sz="1050" b="0" dirty="0">
                <a:solidFill>
                  <a:srgbClr val="AAB9CF"/>
                </a:solidFill>
                <a:latin typeface="Aptos"/>
              </a:rPr>
              <a:t>Tool : FTP client </a:t>
            </a:r>
          </a:p>
          <a:p>
            <a:pPr algn="l">
              <a:spcAft>
                <a:spcPts val="400"/>
              </a:spcAft>
            </a:pPr>
            <a:r>
              <a:rPr sz="1050" b="0" dirty="0">
                <a:solidFill>
                  <a:srgbClr val="AAB9CF"/>
                </a:solidFill>
                <a:latin typeface="Aptos"/>
              </a:rPr>
              <a:t>Review FTP access and available files.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48656" y="2331720"/>
            <a:ext cx="2057400" cy="2057400"/>
          </a:xfrm>
          <a:prstGeom prst="roundRect">
            <a:avLst/>
          </a:prstGeom>
          <a:solidFill>
            <a:srgbClr val="141F36"/>
          </a:solidFill>
          <a:ln>
            <a:solidFill>
              <a:srgbClr val="192A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358384" y="2423160"/>
            <a:ext cx="41148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36D3DC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14416" y="2413328"/>
            <a:ext cx="132588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dirty="0">
                <a:solidFill>
                  <a:srgbClr val="F0F6FF"/>
                </a:solidFill>
                <a:latin typeface="Aptos"/>
              </a:rPr>
              <a:t>Initial access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13248" y="2735686"/>
            <a:ext cx="1728216" cy="80842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lang="en-US" sz="1050" b="0" dirty="0">
                <a:solidFill>
                  <a:srgbClr val="AAB9CF"/>
                </a:solidFill>
                <a:latin typeface="Aptos"/>
              </a:rPr>
              <a:t>Tool : SSH</a:t>
            </a:r>
          </a:p>
          <a:p>
            <a:pPr algn="l">
              <a:spcAft>
                <a:spcPts val="400"/>
              </a:spcAft>
            </a:pPr>
            <a:r>
              <a:rPr sz="1050" b="0" dirty="0">
                <a:solidFill>
                  <a:srgbClr val="AAB9CF"/>
                </a:solidFill>
                <a:latin typeface="Aptos"/>
              </a:rPr>
              <a:t>Validate credentials only within the lab; document SSH access.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16367" y="2331720"/>
            <a:ext cx="2057400" cy="2057400"/>
          </a:xfrm>
          <a:prstGeom prst="roundRect">
            <a:avLst/>
          </a:prstGeom>
          <a:solidFill>
            <a:srgbClr val="141F36"/>
          </a:solidFill>
          <a:ln>
            <a:solidFill>
              <a:srgbClr val="192A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626095" y="2423160"/>
            <a:ext cx="41148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36D3DC"/>
                </a:solidFill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09560" y="2404278"/>
            <a:ext cx="1600200" cy="326243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dirty="0">
                <a:solidFill>
                  <a:srgbClr val="F0F6FF"/>
                </a:solidFill>
                <a:latin typeface="Aptos"/>
              </a:rPr>
              <a:t>Privilege review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00328" y="2735686"/>
            <a:ext cx="1728216" cy="80842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lang="en-US" sz="1050" b="0" dirty="0">
                <a:solidFill>
                  <a:srgbClr val="AAB9CF"/>
                </a:solidFill>
                <a:latin typeface="Aptos"/>
              </a:rPr>
              <a:t>Tool : Linux commands</a:t>
            </a:r>
          </a:p>
          <a:p>
            <a:pPr algn="l">
              <a:spcAft>
                <a:spcPts val="400"/>
              </a:spcAft>
            </a:pPr>
            <a:r>
              <a:rPr sz="1050" b="0" dirty="0">
                <a:solidFill>
                  <a:srgbClr val="AAB9CF"/>
                </a:solidFill>
                <a:latin typeface="Aptos"/>
              </a:rPr>
              <a:t>Inspect </a:t>
            </a:r>
            <a:r>
              <a:rPr sz="1050" b="0" dirty="0" err="1">
                <a:solidFill>
                  <a:srgbClr val="AAB9CF"/>
                </a:solidFill>
                <a:latin typeface="Aptos"/>
              </a:rPr>
              <a:t>sudo</a:t>
            </a:r>
            <a:r>
              <a:rPr lang="en-US" sz="1050" b="0" dirty="0">
                <a:solidFill>
                  <a:srgbClr val="AAB9CF"/>
                </a:solidFill>
                <a:latin typeface="Aptos"/>
              </a:rPr>
              <a:t> -</a:t>
            </a:r>
            <a:r>
              <a:rPr lang="en-US" sz="1050" dirty="0">
                <a:solidFill>
                  <a:srgbClr val="AAB9CF"/>
                </a:solidFill>
                <a:latin typeface="Aptos"/>
              </a:rPr>
              <a:t>l</a:t>
            </a:r>
            <a:r>
              <a:rPr sz="1050" b="0" dirty="0">
                <a:solidFill>
                  <a:srgbClr val="AAB9CF"/>
                </a:solidFill>
                <a:latin typeface="Aptos"/>
              </a:rPr>
              <a:t> permissions and assess misconfiguration.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784080" y="2331720"/>
            <a:ext cx="2057400" cy="2057400"/>
          </a:xfrm>
          <a:prstGeom prst="roundRect">
            <a:avLst/>
          </a:prstGeom>
          <a:solidFill>
            <a:srgbClr val="141F36"/>
          </a:solidFill>
          <a:ln>
            <a:solidFill>
              <a:srgbClr val="192A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893807" y="2423160"/>
            <a:ext cx="41148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36D3DC"/>
                </a:solidFill>
                <a:latin typeface="Aptos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21737" y="2404278"/>
            <a:ext cx="1759925" cy="54168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dirty="0">
                <a:solidFill>
                  <a:srgbClr val="F0F6FF"/>
                </a:solidFill>
                <a:latin typeface="Aptos"/>
              </a:rPr>
              <a:t>Evidence &amp; reporting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55358" y="2924367"/>
            <a:ext cx="1728216" cy="80842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US" sz="1050" b="0" dirty="0">
                <a:solidFill>
                  <a:srgbClr val="AAB9CF"/>
                </a:solidFill>
                <a:latin typeface="Aptos"/>
              </a:rPr>
              <a:t>Tool : Screenshots + Google Sheets</a:t>
            </a:r>
          </a:p>
          <a:p>
            <a:pPr algn="l">
              <a:spcAft>
                <a:spcPts val="400"/>
              </a:spcAft>
            </a:pPr>
            <a:r>
              <a:rPr sz="1050" b="0" dirty="0">
                <a:solidFill>
                  <a:srgbClr val="AAB9CF"/>
                </a:solidFill>
                <a:latin typeface="Aptos"/>
              </a:rPr>
              <a:t>Record proof, impact, and remediation.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4892040"/>
            <a:ext cx="10515600" cy="4572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0" dirty="0">
                <a:solidFill>
                  <a:srgbClr val="AAB9CF"/>
                </a:solidFill>
                <a:latin typeface="Aptos"/>
              </a:rPr>
              <a:t>Tools may include Nmap, an FTP client, SSH, and standard Linux enumeration commands.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5486400"/>
            <a:ext cx="1051560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 dirty="0">
                <a:solidFill>
                  <a:srgbClr val="36D3DC"/>
                </a:solidFill>
                <a:latin typeface="Aptos"/>
              </a:rPr>
              <a:t>Record tool versions and actual commands in the accompanying Google Sheet.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731520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36D3DC"/>
                </a:solidFill>
                <a:latin typeface="Aptos"/>
              </a:rPr>
              <a:t>03 / RECONNAISSANCE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10972800" cy="56692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F0F6FF"/>
                </a:solidFill>
                <a:latin typeface="Aptos"/>
              </a:rPr>
              <a:t>Service discovery with Nmap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89888"/>
            <a:ext cx="10881360" cy="42062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AAB9CF"/>
                </a:solidFill>
                <a:latin typeface="Aptos"/>
              </a:rPr>
              <a:t>Run against the target IP assigned by TryHackMe, not a public or unrelated host.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865376"/>
            <a:ext cx="731520" cy="41148"/>
          </a:xfrm>
          <a:prstGeom prst="rect">
            <a:avLst/>
          </a:prstGeom>
          <a:solidFill>
            <a:srgbClr val="36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AAB9CF"/>
                </a:solidFill>
                <a:latin typeface="Aptos"/>
              </a:rPr>
              <a:t>BOUNTY HACKER  /  TRYHACKME LAB REPORT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55664"/>
            <a:ext cx="86868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>
                <a:solidFill>
                  <a:srgbClr val="36D3DC"/>
                </a:solidFill>
                <a:latin typeface="Aptos"/>
              </a:rPr>
              <a:t>04  / 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2212848"/>
            <a:ext cx="4663440" cy="1097280"/>
          </a:xfrm>
          <a:prstGeom prst="roundRect">
            <a:avLst/>
          </a:prstGeom>
          <a:solidFill>
            <a:srgbClr val="141F36"/>
          </a:solidFill>
          <a:ln>
            <a:solidFill>
              <a:srgbClr val="192A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7824" y="2340864"/>
            <a:ext cx="4334255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36D3DC"/>
                </a:solidFill>
                <a:latin typeface="Aptos"/>
              </a:rPr>
              <a:t>COMMAND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2724912"/>
            <a:ext cx="4334255" cy="47548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F0F6FF"/>
                </a:solidFill>
                <a:latin typeface="Aptos"/>
              </a:rPr>
              <a:t>nmap -sC -sV &lt;MACHINE_IP&gt;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3657600"/>
            <a:ext cx="4617720" cy="1828800"/>
          </a:xfrm>
          <a:prstGeom prst="rect">
            <a:avLst/>
          </a:prstGeom>
          <a:noFill/>
        </p:spPr>
        <p:txBody>
          <a:bodyPr wrap="square" lIns="109728" tIns="91440" rIns="109728" bIns="54864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36D3DC"/>
                </a:solidFill>
                <a:latin typeface="Aptos"/>
              </a:rPr>
              <a:t>Purpose: </a:t>
            </a:r>
            <a:r>
              <a:rPr sz="1500">
                <a:solidFill>
                  <a:srgbClr val="F0F6FF"/>
                </a:solidFill>
                <a:latin typeface="Aptos"/>
              </a:rPr>
              <a:t>Discover open ports and identify likely service versions.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36D3DC"/>
                </a:solidFill>
                <a:latin typeface="Aptos"/>
              </a:rPr>
              <a:t>Capture: </a:t>
            </a:r>
            <a:r>
              <a:rPr sz="1500">
                <a:solidFill>
                  <a:srgbClr val="F0F6FF"/>
                </a:solidFill>
                <a:latin typeface="Aptos"/>
              </a:rPr>
              <a:t>Target IP, scan command, timestamp, and open-port output.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36D3DC"/>
                </a:solidFill>
                <a:latin typeface="Aptos"/>
              </a:rPr>
              <a:t>Interpretation: </a:t>
            </a:r>
            <a:r>
              <a:rPr sz="1500">
                <a:solidFill>
                  <a:srgbClr val="F0F6FF"/>
                </a:solidFill>
                <a:latin typeface="Aptos"/>
              </a:rPr>
              <a:t>Use the observed output as evidence; do not assume expected ports are present.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CB02879-02C2-FE8A-ABD0-F0932EB98E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8952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A94938B-4682-4DCA-1BE6-DE939D196B12}"/>
              </a:ext>
            </a:extLst>
          </p:cNvPr>
          <p:cNvSpPr txBox="1"/>
          <p:nvPr/>
        </p:nvSpPr>
        <p:spPr>
          <a:xfrm>
            <a:off x="682409" y="680573"/>
            <a:ext cx="3352799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>
                <a:solidFill>
                  <a:schemeClr val="bg1"/>
                </a:solidFill>
              </a:rPr>
              <a:t>Findings using Nmap </a:t>
            </a:r>
            <a:endParaRPr lang="en-IN" sz="2600" dirty="0">
              <a:solidFill>
                <a:schemeClr val="bg1"/>
              </a:solidFill>
            </a:endParaRPr>
          </a:p>
        </p:txBody>
      </p:sp>
      <p:sp>
        <p:nvSpPr>
          <p:cNvPr id="11" name="Rounded Rectangle 37">
            <a:extLst>
              <a:ext uri="{FF2B5EF4-FFF2-40B4-BE49-F238E27FC236}">
                <a16:creationId xmlns:a16="http://schemas.microsoft.com/office/drawing/2014/main" id="{BC72FA2A-D286-B986-2F1E-CB9B282E10AA}"/>
              </a:ext>
            </a:extLst>
          </p:cNvPr>
          <p:cNvSpPr/>
          <p:nvPr/>
        </p:nvSpPr>
        <p:spPr>
          <a:xfrm>
            <a:off x="584041" y="3247227"/>
            <a:ext cx="2537899" cy="720840"/>
          </a:xfrm>
          <a:prstGeom prst="roundRect">
            <a:avLst/>
          </a:prstGeom>
          <a:solidFill>
            <a:srgbClr val="141F36"/>
          </a:solidFill>
          <a:ln>
            <a:solidFill>
              <a:srgbClr val="192A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21/</a:t>
            </a:r>
            <a:r>
              <a:rPr lang="en-US" dirty="0" err="1"/>
              <a:t>tcp</a:t>
            </a:r>
            <a:endParaRPr dirty="0"/>
          </a:p>
        </p:txBody>
      </p:sp>
      <p:sp>
        <p:nvSpPr>
          <p:cNvPr id="13" name="Rounded Rectangle 7">
            <a:extLst>
              <a:ext uri="{FF2B5EF4-FFF2-40B4-BE49-F238E27FC236}">
                <a16:creationId xmlns:a16="http://schemas.microsoft.com/office/drawing/2014/main" id="{F96A46EC-E13F-20FE-FE38-8E4213B6A6E3}"/>
              </a:ext>
            </a:extLst>
          </p:cNvPr>
          <p:cNvSpPr/>
          <p:nvPr/>
        </p:nvSpPr>
        <p:spPr>
          <a:xfrm>
            <a:off x="584041" y="2212622"/>
            <a:ext cx="2537899" cy="508828"/>
          </a:xfrm>
          <a:prstGeom prst="roundRect">
            <a:avLst/>
          </a:prstGeom>
          <a:solidFill>
            <a:srgbClr val="192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PORT</a:t>
            </a:r>
            <a:endParaRPr dirty="0"/>
          </a:p>
        </p:txBody>
      </p:sp>
      <p:sp>
        <p:nvSpPr>
          <p:cNvPr id="15" name="Rounded Rectangle 7">
            <a:extLst>
              <a:ext uri="{FF2B5EF4-FFF2-40B4-BE49-F238E27FC236}">
                <a16:creationId xmlns:a16="http://schemas.microsoft.com/office/drawing/2014/main" id="{BB594056-C662-CAC0-093D-3D6DA911B3F0}"/>
              </a:ext>
            </a:extLst>
          </p:cNvPr>
          <p:cNvSpPr/>
          <p:nvPr/>
        </p:nvSpPr>
        <p:spPr>
          <a:xfrm>
            <a:off x="3318676" y="2212622"/>
            <a:ext cx="2537899" cy="508828"/>
          </a:xfrm>
          <a:prstGeom prst="roundRect">
            <a:avLst/>
          </a:prstGeom>
          <a:solidFill>
            <a:srgbClr val="192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STATE</a:t>
            </a:r>
            <a:endParaRPr dirty="0"/>
          </a:p>
        </p:txBody>
      </p:sp>
      <p:sp>
        <p:nvSpPr>
          <p:cNvPr id="17" name="Rounded Rectangle 7">
            <a:extLst>
              <a:ext uri="{FF2B5EF4-FFF2-40B4-BE49-F238E27FC236}">
                <a16:creationId xmlns:a16="http://schemas.microsoft.com/office/drawing/2014/main" id="{FA2392F2-972B-1F56-194F-F98BFEA1288A}"/>
              </a:ext>
            </a:extLst>
          </p:cNvPr>
          <p:cNvSpPr/>
          <p:nvPr/>
        </p:nvSpPr>
        <p:spPr>
          <a:xfrm>
            <a:off x="6053311" y="2212622"/>
            <a:ext cx="2537899" cy="508828"/>
          </a:xfrm>
          <a:prstGeom prst="roundRect">
            <a:avLst/>
          </a:prstGeom>
          <a:solidFill>
            <a:srgbClr val="192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SERVICE</a:t>
            </a:r>
            <a:endParaRPr dirty="0"/>
          </a:p>
        </p:txBody>
      </p:sp>
      <p:sp>
        <p:nvSpPr>
          <p:cNvPr id="19" name="Rounded Rectangle 7">
            <a:extLst>
              <a:ext uri="{FF2B5EF4-FFF2-40B4-BE49-F238E27FC236}">
                <a16:creationId xmlns:a16="http://schemas.microsoft.com/office/drawing/2014/main" id="{D6624627-6EF2-6EF1-D4F8-D75C38027003}"/>
              </a:ext>
            </a:extLst>
          </p:cNvPr>
          <p:cNvSpPr/>
          <p:nvPr/>
        </p:nvSpPr>
        <p:spPr>
          <a:xfrm>
            <a:off x="8787946" y="2212622"/>
            <a:ext cx="2537899" cy="508828"/>
          </a:xfrm>
          <a:prstGeom prst="roundRect">
            <a:avLst/>
          </a:prstGeom>
          <a:solidFill>
            <a:srgbClr val="192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VERSION</a:t>
            </a:r>
            <a:endParaRPr dirty="0"/>
          </a:p>
        </p:txBody>
      </p:sp>
      <p:sp>
        <p:nvSpPr>
          <p:cNvPr id="21" name="Rounded Rectangle 37">
            <a:extLst>
              <a:ext uri="{FF2B5EF4-FFF2-40B4-BE49-F238E27FC236}">
                <a16:creationId xmlns:a16="http://schemas.microsoft.com/office/drawing/2014/main" id="{C7C7C7FC-6502-1FFA-7067-BF884A01FC89}"/>
              </a:ext>
            </a:extLst>
          </p:cNvPr>
          <p:cNvSpPr/>
          <p:nvPr/>
        </p:nvSpPr>
        <p:spPr>
          <a:xfrm>
            <a:off x="3318676" y="3247227"/>
            <a:ext cx="2537899" cy="720840"/>
          </a:xfrm>
          <a:prstGeom prst="roundRect">
            <a:avLst/>
          </a:prstGeom>
          <a:solidFill>
            <a:srgbClr val="141F36"/>
          </a:solidFill>
          <a:ln>
            <a:solidFill>
              <a:srgbClr val="192A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open</a:t>
            </a:r>
            <a:endParaRPr dirty="0"/>
          </a:p>
        </p:txBody>
      </p:sp>
      <p:sp>
        <p:nvSpPr>
          <p:cNvPr id="25" name="Rounded Rectangle 37">
            <a:extLst>
              <a:ext uri="{FF2B5EF4-FFF2-40B4-BE49-F238E27FC236}">
                <a16:creationId xmlns:a16="http://schemas.microsoft.com/office/drawing/2014/main" id="{ED9406B3-E92E-9733-5952-9BB6E1BCA37C}"/>
              </a:ext>
            </a:extLst>
          </p:cNvPr>
          <p:cNvSpPr/>
          <p:nvPr/>
        </p:nvSpPr>
        <p:spPr>
          <a:xfrm>
            <a:off x="6053311" y="3247227"/>
            <a:ext cx="2537899" cy="720840"/>
          </a:xfrm>
          <a:prstGeom prst="roundRect">
            <a:avLst/>
          </a:prstGeom>
          <a:solidFill>
            <a:srgbClr val="141F36"/>
          </a:solidFill>
          <a:ln>
            <a:solidFill>
              <a:srgbClr val="192A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FTP</a:t>
            </a:r>
            <a:endParaRPr dirty="0"/>
          </a:p>
        </p:txBody>
      </p:sp>
      <p:sp>
        <p:nvSpPr>
          <p:cNvPr id="27" name="Rounded Rectangle 37">
            <a:extLst>
              <a:ext uri="{FF2B5EF4-FFF2-40B4-BE49-F238E27FC236}">
                <a16:creationId xmlns:a16="http://schemas.microsoft.com/office/drawing/2014/main" id="{7639A010-0F4A-FB5D-573F-E12005C2CF81}"/>
              </a:ext>
            </a:extLst>
          </p:cNvPr>
          <p:cNvSpPr/>
          <p:nvPr/>
        </p:nvSpPr>
        <p:spPr>
          <a:xfrm>
            <a:off x="8787946" y="3247227"/>
            <a:ext cx="2537899" cy="720840"/>
          </a:xfrm>
          <a:prstGeom prst="roundRect">
            <a:avLst/>
          </a:prstGeom>
          <a:solidFill>
            <a:srgbClr val="141F36"/>
          </a:solidFill>
          <a:ln>
            <a:solidFill>
              <a:srgbClr val="192A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err="1"/>
              <a:t>Vsfpd</a:t>
            </a:r>
            <a:r>
              <a:rPr lang="en-US" dirty="0"/>
              <a:t> 3.0.5</a:t>
            </a:r>
            <a:endParaRPr dirty="0"/>
          </a:p>
        </p:txBody>
      </p:sp>
      <p:sp>
        <p:nvSpPr>
          <p:cNvPr id="35" name="Rounded Rectangle 37">
            <a:extLst>
              <a:ext uri="{FF2B5EF4-FFF2-40B4-BE49-F238E27FC236}">
                <a16:creationId xmlns:a16="http://schemas.microsoft.com/office/drawing/2014/main" id="{76B1DA74-A06F-7D40-3AF5-3E139B8E2144}"/>
              </a:ext>
            </a:extLst>
          </p:cNvPr>
          <p:cNvSpPr/>
          <p:nvPr/>
        </p:nvSpPr>
        <p:spPr>
          <a:xfrm>
            <a:off x="584041" y="4258456"/>
            <a:ext cx="2537899" cy="720840"/>
          </a:xfrm>
          <a:prstGeom prst="roundRect">
            <a:avLst/>
          </a:prstGeom>
          <a:solidFill>
            <a:srgbClr val="141F36"/>
          </a:solidFill>
          <a:ln>
            <a:solidFill>
              <a:srgbClr val="192A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22/</a:t>
            </a:r>
            <a:r>
              <a:rPr lang="en-US" dirty="0" err="1"/>
              <a:t>tcp</a:t>
            </a:r>
            <a:endParaRPr dirty="0"/>
          </a:p>
        </p:txBody>
      </p:sp>
      <p:sp>
        <p:nvSpPr>
          <p:cNvPr id="37" name="Rounded Rectangle 37">
            <a:extLst>
              <a:ext uri="{FF2B5EF4-FFF2-40B4-BE49-F238E27FC236}">
                <a16:creationId xmlns:a16="http://schemas.microsoft.com/office/drawing/2014/main" id="{4DEC277D-233A-174C-F371-C522C2718B22}"/>
              </a:ext>
            </a:extLst>
          </p:cNvPr>
          <p:cNvSpPr/>
          <p:nvPr/>
        </p:nvSpPr>
        <p:spPr>
          <a:xfrm>
            <a:off x="3318676" y="4258456"/>
            <a:ext cx="2537899" cy="720840"/>
          </a:xfrm>
          <a:prstGeom prst="roundRect">
            <a:avLst/>
          </a:prstGeom>
          <a:solidFill>
            <a:srgbClr val="141F36"/>
          </a:solidFill>
          <a:ln>
            <a:solidFill>
              <a:srgbClr val="192A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open</a:t>
            </a:r>
            <a:endParaRPr dirty="0"/>
          </a:p>
        </p:txBody>
      </p:sp>
      <p:sp>
        <p:nvSpPr>
          <p:cNvPr id="39" name="Rounded Rectangle 37">
            <a:extLst>
              <a:ext uri="{FF2B5EF4-FFF2-40B4-BE49-F238E27FC236}">
                <a16:creationId xmlns:a16="http://schemas.microsoft.com/office/drawing/2014/main" id="{AAD8104B-6B8E-0DD0-28B2-0B49A3575121}"/>
              </a:ext>
            </a:extLst>
          </p:cNvPr>
          <p:cNvSpPr/>
          <p:nvPr/>
        </p:nvSpPr>
        <p:spPr>
          <a:xfrm>
            <a:off x="6053311" y="4258456"/>
            <a:ext cx="2537899" cy="720840"/>
          </a:xfrm>
          <a:prstGeom prst="roundRect">
            <a:avLst/>
          </a:prstGeom>
          <a:solidFill>
            <a:srgbClr val="141F36"/>
          </a:solidFill>
          <a:ln>
            <a:solidFill>
              <a:srgbClr val="192A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SSH</a:t>
            </a:r>
            <a:endParaRPr dirty="0"/>
          </a:p>
        </p:txBody>
      </p:sp>
      <p:sp>
        <p:nvSpPr>
          <p:cNvPr id="41" name="Rounded Rectangle 37">
            <a:extLst>
              <a:ext uri="{FF2B5EF4-FFF2-40B4-BE49-F238E27FC236}">
                <a16:creationId xmlns:a16="http://schemas.microsoft.com/office/drawing/2014/main" id="{8E21ECDB-DC5D-9568-9D4A-E55EC8FFE3CD}"/>
              </a:ext>
            </a:extLst>
          </p:cNvPr>
          <p:cNvSpPr/>
          <p:nvPr/>
        </p:nvSpPr>
        <p:spPr>
          <a:xfrm>
            <a:off x="8787946" y="4258456"/>
            <a:ext cx="2537899" cy="720840"/>
          </a:xfrm>
          <a:prstGeom prst="roundRect">
            <a:avLst/>
          </a:prstGeom>
          <a:solidFill>
            <a:srgbClr val="141F36"/>
          </a:solidFill>
          <a:ln>
            <a:solidFill>
              <a:srgbClr val="192A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err="1"/>
              <a:t>Openssh</a:t>
            </a:r>
            <a:r>
              <a:rPr lang="en-US" dirty="0"/>
              <a:t> 8.2p1</a:t>
            </a:r>
            <a:endParaRPr dirty="0"/>
          </a:p>
        </p:txBody>
      </p:sp>
      <p:sp>
        <p:nvSpPr>
          <p:cNvPr id="43" name="Rounded Rectangle 37">
            <a:extLst>
              <a:ext uri="{FF2B5EF4-FFF2-40B4-BE49-F238E27FC236}">
                <a16:creationId xmlns:a16="http://schemas.microsoft.com/office/drawing/2014/main" id="{6531028C-CF56-5294-8053-9065DEFFBCFB}"/>
              </a:ext>
            </a:extLst>
          </p:cNvPr>
          <p:cNvSpPr/>
          <p:nvPr/>
        </p:nvSpPr>
        <p:spPr>
          <a:xfrm>
            <a:off x="584041" y="5269684"/>
            <a:ext cx="2537899" cy="720840"/>
          </a:xfrm>
          <a:prstGeom prst="roundRect">
            <a:avLst/>
          </a:prstGeom>
          <a:solidFill>
            <a:srgbClr val="141F36"/>
          </a:solidFill>
          <a:ln>
            <a:solidFill>
              <a:srgbClr val="192A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80/</a:t>
            </a:r>
            <a:r>
              <a:rPr lang="en-US" dirty="0" err="1"/>
              <a:t>tcp</a:t>
            </a:r>
            <a:endParaRPr dirty="0"/>
          </a:p>
        </p:txBody>
      </p:sp>
      <p:sp>
        <p:nvSpPr>
          <p:cNvPr id="45" name="Rounded Rectangle 37">
            <a:extLst>
              <a:ext uri="{FF2B5EF4-FFF2-40B4-BE49-F238E27FC236}">
                <a16:creationId xmlns:a16="http://schemas.microsoft.com/office/drawing/2014/main" id="{120975CC-D922-CC71-56A2-BF40D4675A40}"/>
              </a:ext>
            </a:extLst>
          </p:cNvPr>
          <p:cNvSpPr/>
          <p:nvPr/>
        </p:nvSpPr>
        <p:spPr>
          <a:xfrm>
            <a:off x="3318676" y="5269684"/>
            <a:ext cx="2537899" cy="720840"/>
          </a:xfrm>
          <a:prstGeom prst="roundRect">
            <a:avLst/>
          </a:prstGeom>
          <a:solidFill>
            <a:srgbClr val="141F36"/>
          </a:solidFill>
          <a:ln>
            <a:solidFill>
              <a:srgbClr val="192A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open</a:t>
            </a:r>
            <a:endParaRPr dirty="0"/>
          </a:p>
        </p:txBody>
      </p:sp>
      <p:sp>
        <p:nvSpPr>
          <p:cNvPr id="47" name="Rounded Rectangle 37">
            <a:extLst>
              <a:ext uri="{FF2B5EF4-FFF2-40B4-BE49-F238E27FC236}">
                <a16:creationId xmlns:a16="http://schemas.microsoft.com/office/drawing/2014/main" id="{EA767B8C-B2C3-F6B0-4CFA-637E5E316595}"/>
              </a:ext>
            </a:extLst>
          </p:cNvPr>
          <p:cNvSpPr/>
          <p:nvPr/>
        </p:nvSpPr>
        <p:spPr>
          <a:xfrm>
            <a:off x="6053311" y="5269684"/>
            <a:ext cx="2537899" cy="720840"/>
          </a:xfrm>
          <a:prstGeom prst="roundRect">
            <a:avLst/>
          </a:prstGeom>
          <a:solidFill>
            <a:srgbClr val="141F36"/>
          </a:solidFill>
          <a:ln>
            <a:solidFill>
              <a:srgbClr val="192A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HTTP</a:t>
            </a:r>
            <a:endParaRPr dirty="0"/>
          </a:p>
        </p:txBody>
      </p:sp>
      <p:sp>
        <p:nvSpPr>
          <p:cNvPr id="49" name="Rounded Rectangle 37">
            <a:extLst>
              <a:ext uri="{FF2B5EF4-FFF2-40B4-BE49-F238E27FC236}">
                <a16:creationId xmlns:a16="http://schemas.microsoft.com/office/drawing/2014/main" id="{C16525EA-89CF-3D99-0031-D509BA7BC33B}"/>
              </a:ext>
            </a:extLst>
          </p:cNvPr>
          <p:cNvSpPr/>
          <p:nvPr/>
        </p:nvSpPr>
        <p:spPr>
          <a:xfrm>
            <a:off x="8787946" y="5269684"/>
            <a:ext cx="2537899" cy="720840"/>
          </a:xfrm>
          <a:prstGeom prst="roundRect">
            <a:avLst/>
          </a:prstGeom>
          <a:solidFill>
            <a:srgbClr val="141F36"/>
          </a:solidFill>
          <a:ln>
            <a:solidFill>
              <a:srgbClr val="192A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Apache httpd 2.4.41</a:t>
            </a:r>
            <a:endParaRPr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CE746A69-50E6-05CA-29A9-83C27032E4FA}"/>
              </a:ext>
            </a:extLst>
          </p:cNvPr>
          <p:cNvSpPr/>
          <p:nvPr/>
        </p:nvSpPr>
        <p:spPr>
          <a:xfrm>
            <a:off x="682409" y="1460694"/>
            <a:ext cx="731520" cy="41148"/>
          </a:xfrm>
          <a:prstGeom prst="rect">
            <a:avLst/>
          </a:prstGeom>
          <a:solidFill>
            <a:srgbClr val="36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7180380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731520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36D3DC"/>
                </a:solidFill>
                <a:latin typeface="Aptos"/>
              </a:rPr>
              <a:t>04 / ENUMERATION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10972800" cy="56692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F0F6FF"/>
                </a:solidFill>
                <a:latin typeface="Aptos"/>
              </a:rPr>
              <a:t>FTP access &amp; file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89888"/>
            <a:ext cx="10881360" cy="42062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AAB9CF"/>
                </a:solidFill>
                <a:latin typeface="Aptos"/>
              </a:rPr>
              <a:t>Confirm the service and permissions from your own lab session.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865376"/>
            <a:ext cx="731520" cy="41148"/>
          </a:xfrm>
          <a:prstGeom prst="rect">
            <a:avLst/>
          </a:prstGeom>
          <a:solidFill>
            <a:srgbClr val="36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dirty="0">
                <a:solidFill>
                  <a:srgbClr val="AAB9CF"/>
                </a:solidFill>
                <a:latin typeface="Aptos"/>
              </a:rPr>
              <a:t>BOUNTY HACKER  /  TRYHACKME LAB REPORT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55664"/>
            <a:ext cx="86868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>
                <a:solidFill>
                  <a:srgbClr val="36D3DC"/>
                </a:solidFill>
                <a:latin typeface="Aptos"/>
              </a:rPr>
              <a:t>05  /  10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20724" y="2107199"/>
            <a:ext cx="4983480" cy="1143000"/>
          </a:xfrm>
          <a:prstGeom prst="roundRect">
            <a:avLst/>
          </a:prstGeom>
          <a:solidFill>
            <a:srgbClr val="141F36"/>
          </a:solidFill>
          <a:ln>
            <a:solidFill>
              <a:srgbClr val="192A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185315" y="2235215"/>
            <a:ext cx="4654296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36D3DC"/>
                </a:solidFill>
                <a:latin typeface="Aptos"/>
              </a:rPr>
              <a:t>WHAT TO RECORD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85315" y="2619263"/>
            <a:ext cx="4654296" cy="52120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dirty="0">
                <a:solidFill>
                  <a:srgbClr val="F0F6FF"/>
                </a:solidFill>
                <a:latin typeface="Aptos"/>
              </a:rPr>
              <a:t>Was anonymous access allowed? Which filenames were visible? What permissions were observed?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020724" y="3478799"/>
            <a:ext cx="4983480" cy="1143000"/>
          </a:xfrm>
          <a:prstGeom prst="roundRect">
            <a:avLst/>
          </a:prstGeom>
          <a:solidFill>
            <a:srgbClr val="141F36"/>
          </a:solidFill>
          <a:ln>
            <a:solidFill>
              <a:srgbClr val="192A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85315" y="3606814"/>
            <a:ext cx="4654296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C352"/>
                </a:solidFill>
                <a:latin typeface="Aptos"/>
              </a:rPr>
              <a:t>EVIDENCE TO ADD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85315" y="3990863"/>
            <a:ext cx="4654296" cy="52120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F0F6FF"/>
                </a:solidFill>
                <a:latin typeface="Aptos"/>
              </a:rPr>
              <a:t>FTP listing and a safe view of relevant task files. Avoid exposing credentials in screenshots.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12164" y="4987559"/>
            <a:ext cx="4800600" cy="6400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AAB9CF"/>
                </a:solidFill>
                <a:latin typeface="Aptos"/>
              </a:rPr>
              <a:t>If access differs from the expected room walkthrough, report what you observed rather than forcing a result.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53820233-FA4E-9AB4-254B-393620AFBA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2107199"/>
            <a:ext cx="6142802" cy="323746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BE3479D-B45E-C8C8-CCAB-441BC23A7E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072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2399FEC-2180-B941-9981-46570D967A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64086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731520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36D3DC"/>
                </a:solidFill>
                <a:latin typeface="Aptos"/>
              </a:rPr>
              <a:t>05 / INITIAL ACCESS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10972800" cy="56692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F0F6FF"/>
                </a:solidFill>
                <a:latin typeface="Aptos"/>
              </a:rPr>
              <a:t>Credential validation &amp; SSH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89888"/>
            <a:ext cx="10881360" cy="42062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AAB9CF"/>
                </a:solidFill>
                <a:latin typeface="Aptos"/>
              </a:rPr>
              <a:t>Keep credentials private; document the outcome without publishing passwords.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865376"/>
            <a:ext cx="731520" cy="41148"/>
          </a:xfrm>
          <a:prstGeom prst="rect">
            <a:avLst/>
          </a:prstGeom>
          <a:solidFill>
            <a:srgbClr val="36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AAB9CF"/>
                </a:solidFill>
                <a:latin typeface="Aptos"/>
              </a:rPr>
              <a:t>BOUNTY HACKER  /  TRYHACKME LAB REPORT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55664"/>
            <a:ext cx="86868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>
                <a:solidFill>
                  <a:srgbClr val="36D3DC"/>
                </a:solidFill>
                <a:latin typeface="Aptos"/>
              </a:rPr>
              <a:t>06  / 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240280"/>
            <a:ext cx="3291840" cy="1371600"/>
          </a:xfrm>
          <a:prstGeom prst="roundRect">
            <a:avLst/>
          </a:prstGeom>
          <a:solidFill>
            <a:srgbClr val="141F36"/>
          </a:solidFill>
          <a:ln>
            <a:solidFill>
              <a:srgbClr val="192A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2368296"/>
            <a:ext cx="2962656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36D3DC"/>
                </a:solidFill>
                <a:latin typeface="Aptos"/>
              </a:rPr>
              <a:t>INPUTS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752344"/>
            <a:ext cx="2962656" cy="7498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F0F6FF"/>
                </a:solidFill>
                <a:latin typeface="Aptos"/>
              </a:rPr>
              <a:t>Username source, provided wordlist, target SSH service.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2240280"/>
            <a:ext cx="3291840" cy="1371600"/>
          </a:xfrm>
          <a:prstGeom prst="roundRect">
            <a:avLst/>
          </a:prstGeom>
          <a:solidFill>
            <a:srgbClr val="141F36"/>
          </a:solidFill>
          <a:ln>
            <a:solidFill>
              <a:srgbClr val="192A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99431" y="2368296"/>
            <a:ext cx="2962656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C352"/>
                </a:solidFill>
                <a:latin typeface="Aptos"/>
              </a:rPr>
              <a:t>VALIDATION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1" y="2752344"/>
            <a:ext cx="2962656" cy="7498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F0F6FF"/>
                </a:solidFill>
                <a:latin typeface="Aptos"/>
              </a:rPr>
              <a:t>Record whether authorized lab credential testing succeeded or failed.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2240280"/>
            <a:ext cx="3291840" cy="1371600"/>
          </a:xfrm>
          <a:prstGeom prst="roundRect">
            <a:avLst/>
          </a:prstGeom>
          <a:solidFill>
            <a:srgbClr val="141F36"/>
          </a:solidFill>
          <a:ln>
            <a:solidFill>
              <a:srgbClr val="192A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02752" y="2368296"/>
            <a:ext cx="2962656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71E0AD"/>
                </a:solidFill>
                <a:latin typeface="Aptos"/>
              </a:rPr>
              <a:t>PROOF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2752" y="2752344"/>
            <a:ext cx="2962656" cy="7498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F0F6FF"/>
                </a:solidFill>
                <a:latin typeface="Aptos"/>
              </a:rPr>
              <a:t>SSH session evidence, account name, and a redacted view of user-level access.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069080"/>
            <a:ext cx="4846320" cy="1600200"/>
          </a:xfrm>
          <a:prstGeom prst="roundRect">
            <a:avLst/>
          </a:prstGeom>
          <a:solidFill>
            <a:srgbClr val="0D1628"/>
          </a:solidFill>
          <a:ln w="19050">
            <a:solidFill>
              <a:srgbClr val="36D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24128" y="4197096"/>
            <a:ext cx="457200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36D3DC"/>
                </a:solidFill>
                <a:latin typeface="Aptos"/>
              </a:rPr>
              <a:t>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727448"/>
            <a:ext cx="4480559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0F6FF"/>
                </a:solidFill>
                <a:latin typeface="Aptos"/>
              </a:rPr>
              <a:t>SCREENSHOT PLACEHOLDER 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5294376"/>
            <a:ext cx="4443983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>
                <a:solidFill>
                  <a:srgbClr val="AAB9CF"/>
                </a:solidFill>
                <a:latin typeface="Aptos"/>
              </a:rPr>
              <a:t>SSH session / account verification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4069080"/>
            <a:ext cx="4846320" cy="1600200"/>
          </a:xfrm>
          <a:prstGeom prst="roundRect">
            <a:avLst/>
          </a:prstGeom>
          <a:solidFill>
            <a:srgbClr val="0D1628"/>
          </a:solidFill>
          <a:ln w="19050">
            <a:solidFill>
              <a:srgbClr val="36D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10528" y="4197096"/>
            <a:ext cx="457200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36D3DC"/>
                </a:solidFill>
                <a:latin typeface="Aptos"/>
              </a:rPr>
              <a:t>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4727448"/>
            <a:ext cx="4480559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0F6FF"/>
                </a:solidFill>
                <a:latin typeface="Aptos"/>
              </a:rPr>
              <a:t>SCREENSHOT PLACEHOLDER 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01968" y="5294376"/>
            <a:ext cx="4443983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>
                <a:solidFill>
                  <a:srgbClr val="AAB9CF"/>
                </a:solidFill>
                <a:latin typeface="Aptos"/>
              </a:rPr>
              <a:t>User flag proof (redact the flag if sharing publicly)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34A42B0-7683-627B-3661-1821B7F547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77574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731520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36D3DC"/>
                </a:solidFill>
                <a:latin typeface="Aptos"/>
              </a:rPr>
              <a:t>06 / PRIVILEGE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10972800" cy="56692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F0F6FF"/>
                </a:solidFill>
                <a:latin typeface="Aptos"/>
              </a:rPr>
              <a:t>Sudo permissions &amp; root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89888"/>
            <a:ext cx="10881360" cy="42062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AAB9CF"/>
                </a:solidFill>
                <a:latin typeface="Aptos"/>
              </a:rPr>
              <a:t>Privilege escalation should be documented as a finding, not just as a command sequence.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865376"/>
            <a:ext cx="731520" cy="41148"/>
          </a:xfrm>
          <a:prstGeom prst="rect">
            <a:avLst/>
          </a:prstGeom>
          <a:solidFill>
            <a:srgbClr val="36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AAB9CF"/>
                </a:solidFill>
                <a:latin typeface="Aptos"/>
              </a:rPr>
              <a:t>BOUNTY HACKER  /  TRYHACKME LAB REPORT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55664"/>
            <a:ext cx="86868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>
                <a:solidFill>
                  <a:srgbClr val="36D3DC"/>
                </a:solidFill>
                <a:latin typeface="Aptos"/>
              </a:rPr>
              <a:t>07  / 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212848"/>
            <a:ext cx="3657600" cy="1188720"/>
          </a:xfrm>
          <a:prstGeom prst="roundRect">
            <a:avLst/>
          </a:prstGeom>
          <a:solidFill>
            <a:srgbClr val="141F36"/>
          </a:solidFill>
          <a:ln>
            <a:solidFill>
              <a:srgbClr val="192A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2340864"/>
            <a:ext cx="3328416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36D3DC"/>
                </a:solidFill>
                <a:latin typeface="Aptos"/>
              </a:rPr>
              <a:t>ENUMERATION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724912"/>
            <a:ext cx="3328416" cy="56692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F0F6FF"/>
                </a:solidFill>
                <a:latin typeface="Aptos"/>
              </a:rPr>
              <a:t>sudo -l
Review permitted commands and execution context.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2212848"/>
            <a:ext cx="3246120" cy="1188720"/>
          </a:xfrm>
          <a:prstGeom prst="roundRect">
            <a:avLst/>
          </a:prstGeom>
          <a:solidFill>
            <a:srgbClr val="141F36"/>
          </a:solidFill>
          <a:ln>
            <a:solidFill>
              <a:srgbClr val="192A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90872" y="2340864"/>
            <a:ext cx="2916936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C352"/>
                </a:solidFill>
                <a:latin typeface="Aptos"/>
              </a:rPr>
              <a:t>POTENTIAL ISSUE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90872" y="2724912"/>
            <a:ext cx="2916936" cy="56692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F0F6FF"/>
                </a:solidFill>
                <a:latin typeface="Aptos"/>
              </a:rPr>
              <a:t>If `tar` is permitted with elevated privileges, assess whether that permission is excessive.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09560" y="2212848"/>
            <a:ext cx="3520440" cy="1188720"/>
          </a:xfrm>
          <a:prstGeom prst="roundRect">
            <a:avLst/>
          </a:prstGeom>
          <a:solidFill>
            <a:srgbClr val="141F36"/>
          </a:solidFill>
          <a:ln>
            <a:solidFill>
              <a:srgbClr val="192A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74152" y="2340864"/>
            <a:ext cx="3191256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71E0AD"/>
                </a:solidFill>
                <a:latin typeface="Aptos"/>
              </a:rP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74152" y="2724912"/>
            <a:ext cx="3191256" cy="56692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F0F6FF"/>
                </a:solidFill>
                <a:latin typeface="Aptos"/>
              </a:rPr>
              <a:t>Confirm the effective account with `id`; only report root access if observed.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886200"/>
            <a:ext cx="4983480" cy="1783080"/>
          </a:xfrm>
          <a:prstGeom prst="roundRect">
            <a:avLst/>
          </a:prstGeom>
          <a:solidFill>
            <a:srgbClr val="0D1628"/>
          </a:solidFill>
          <a:ln w="19050">
            <a:solidFill>
              <a:srgbClr val="36D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86968" y="4014215"/>
            <a:ext cx="457200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36D3DC"/>
                </a:solidFill>
                <a:latin typeface="Aptos"/>
              </a:rPr>
              <a:t>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4544568"/>
            <a:ext cx="461772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0F6FF"/>
                </a:solidFill>
                <a:latin typeface="Aptos"/>
              </a:rPr>
              <a:t>SCREENSHOT PLACEHOLDER 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408" y="5111496"/>
            <a:ext cx="4581144" cy="411479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>
                <a:solidFill>
                  <a:srgbClr val="AAB9CF"/>
                </a:solidFill>
                <a:latin typeface="Aptos"/>
              </a:rPr>
              <a:t>sudo -l output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3886200"/>
            <a:ext cx="4983480" cy="1783080"/>
          </a:xfrm>
          <a:prstGeom prst="roundRect">
            <a:avLst/>
          </a:prstGeom>
          <a:solidFill>
            <a:srgbClr val="0D1628"/>
          </a:solidFill>
          <a:ln w="19050">
            <a:solidFill>
              <a:srgbClr val="36D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10528" y="4014215"/>
            <a:ext cx="457200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36D3DC"/>
                </a:solidFill>
                <a:latin typeface="Aptos"/>
              </a:rPr>
              <a:t>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4544568"/>
            <a:ext cx="461772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0F6FF"/>
                </a:solidFill>
                <a:latin typeface="Aptos"/>
              </a:rPr>
              <a:t>SCREENSHOT PLACEHOLDER 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01968" y="5111496"/>
            <a:ext cx="4581144" cy="411479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>
                <a:solidFill>
                  <a:srgbClr val="AAB9CF"/>
                </a:solidFill>
                <a:latin typeface="Aptos"/>
              </a:rPr>
              <a:t>Privilege verification / root flag proof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4E285095-3FC7-56D8-87F1-D7DCE6D6B4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8613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731520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36D3DC"/>
                </a:solidFill>
                <a:latin typeface="Aptos"/>
              </a:rPr>
              <a:t>07 /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10972800" cy="56692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F0F6FF"/>
                </a:solidFill>
                <a:latin typeface="Aptos"/>
              </a:rPr>
              <a:t>Potential security issues to validate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89888"/>
            <a:ext cx="10881360" cy="42062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AAB9CF"/>
                </a:solidFill>
                <a:latin typeface="Aptos"/>
              </a:rPr>
              <a:t>These are assessment hypotheses until supported by your captured evidence.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865376"/>
            <a:ext cx="731520" cy="41148"/>
          </a:xfrm>
          <a:prstGeom prst="rect">
            <a:avLst/>
          </a:prstGeom>
          <a:solidFill>
            <a:srgbClr val="36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AAB9CF"/>
                </a:solidFill>
                <a:latin typeface="Aptos"/>
              </a:rPr>
              <a:t>BOUNTY HACKER  /  TRYHACKME LAB REPORT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55664"/>
            <a:ext cx="86868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>
                <a:solidFill>
                  <a:srgbClr val="36D3DC"/>
                </a:solidFill>
                <a:latin typeface="Aptos"/>
              </a:rPr>
              <a:t>08  / 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2194560"/>
            <a:ext cx="1965960" cy="438912"/>
          </a:xfrm>
          <a:prstGeom prst="roundRect">
            <a:avLst/>
          </a:prstGeom>
          <a:solidFill>
            <a:srgbClr val="192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86384" y="2267712"/>
            <a:ext cx="1819656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36D3DC"/>
                </a:solidFill>
                <a:latin typeface="Aptos"/>
              </a:rPr>
              <a:t>Finding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88920" y="2194560"/>
            <a:ext cx="1737360" cy="438912"/>
          </a:xfrm>
          <a:prstGeom prst="roundRect">
            <a:avLst/>
          </a:prstGeom>
          <a:solidFill>
            <a:srgbClr val="192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862072" y="2267712"/>
            <a:ext cx="1591056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36D3DC"/>
                </a:solidFill>
                <a:latin typeface="Aptos"/>
              </a:rPr>
              <a:t>Evidence needed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17720" y="2194560"/>
            <a:ext cx="1691640" cy="438912"/>
          </a:xfrm>
          <a:prstGeom prst="roundRect">
            <a:avLst/>
          </a:prstGeom>
          <a:solidFill>
            <a:srgbClr val="192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90872" y="2267712"/>
            <a:ext cx="1545336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36D3DC"/>
                </a:solidFill>
                <a:latin typeface="Aptos"/>
              </a:rPr>
              <a:t>Potential impact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2194560"/>
            <a:ext cx="2240280" cy="438912"/>
          </a:xfrm>
          <a:prstGeom prst="roundRect">
            <a:avLst/>
          </a:prstGeom>
          <a:solidFill>
            <a:srgbClr val="192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73952" y="2267712"/>
            <a:ext cx="2093976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36D3DC"/>
                </a:solidFill>
                <a:latin typeface="Aptos"/>
              </a:rPr>
              <a:t>Initial rating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78240" y="2194560"/>
            <a:ext cx="2468880" cy="438912"/>
          </a:xfrm>
          <a:prstGeom prst="roundRect">
            <a:avLst/>
          </a:prstGeom>
          <a:solidFill>
            <a:srgbClr val="192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851392" y="2267712"/>
            <a:ext cx="2322576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36D3DC"/>
                </a:solidFill>
                <a:latin typeface="Aptos"/>
              </a:rPr>
              <a:t>Status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2761488"/>
            <a:ext cx="1965960" cy="621792"/>
          </a:xfrm>
          <a:prstGeom prst="roundRect">
            <a:avLst/>
          </a:prstGeom>
          <a:solidFill>
            <a:srgbClr val="141F36"/>
          </a:solidFill>
          <a:ln>
            <a:solidFill>
              <a:srgbClr val="192A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86384" y="2852928"/>
            <a:ext cx="1819656" cy="4389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F0F6FF"/>
                </a:solidFill>
                <a:latin typeface="Aptos"/>
              </a:rPr>
              <a:t>Anonymous FTP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88920" y="2761488"/>
            <a:ext cx="1737360" cy="621792"/>
          </a:xfrm>
          <a:prstGeom prst="roundRect">
            <a:avLst/>
          </a:prstGeom>
          <a:solidFill>
            <a:srgbClr val="141F36"/>
          </a:solidFill>
          <a:ln>
            <a:solidFill>
              <a:srgbClr val="192A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862072" y="2852928"/>
            <a:ext cx="1591056" cy="433965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lang="en-US" sz="1050" dirty="0">
                <a:solidFill>
                  <a:srgbClr val="F0F6FF"/>
                </a:solidFill>
                <a:latin typeface="Aptos"/>
              </a:rPr>
              <a:t>FTP login result and accessible file listing </a:t>
            </a:r>
            <a:endParaRPr sz="1050" b="0" dirty="0">
              <a:solidFill>
                <a:srgbClr val="F0F6FF"/>
              </a:solidFill>
              <a:latin typeface="Aptos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4617720" y="2761488"/>
            <a:ext cx="1691640" cy="621792"/>
          </a:xfrm>
          <a:prstGeom prst="roundRect">
            <a:avLst/>
          </a:prstGeom>
          <a:solidFill>
            <a:srgbClr val="141F36"/>
          </a:solidFill>
          <a:ln>
            <a:solidFill>
              <a:srgbClr val="192A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690872" y="2852928"/>
            <a:ext cx="1545336" cy="27238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lang="en-US" sz="1050" dirty="0">
                <a:solidFill>
                  <a:srgbClr val="F0F6FF"/>
                </a:solidFill>
                <a:latin typeface="Aptos"/>
              </a:rPr>
              <a:t>Unauthorized file access</a:t>
            </a:r>
            <a:endParaRPr sz="1050" b="0" dirty="0">
              <a:solidFill>
                <a:srgbClr val="F0F6FF"/>
              </a:solidFill>
              <a:latin typeface="Aptos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400800" y="2761488"/>
            <a:ext cx="2240280" cy="621792"/>
          </a:xfrm>
          <a:prstGeom prst="roundRect">
            <a:avLst/>
          </a:prstGeom>
          <a:solidFill>
            <a:srgbClr val="141F36"/>
          </a:solidFill>
          <a:ln>
            <a:solidFill>
              <a:srgbClr val="192A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73952" y="2852928"/>
            <a:ext cx="2093976" cy="4389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F0F6FF"/>
                </a:solidFill>
                <a:latin typeface="Aptos"/>
              </a:rPr>
              <a:t>Medium*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78240" y="2761488"/>
            <a:ext cx="2468880" cy="621792"/>
          </a:xfrm>
          <a:prstGeom prst="roundRect">
            <a:avLst/>
          </a:prstGeom>
          <a:solidFill>
            <a:srgbClr val="141F36"/>
          </a:solidFill>
          <a:ln>
            <a:solidFill>
              <a:srgbClr val="192A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851392" y="2852928"/>
            <a:ext cx="2322576" cy="4389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FFC352"/>
                </a:solidFill>
                <a:latin typeface="Aptos"/>
              </a:rPr>
              <a:t>Unverified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3232" y="3547872"/>
            <a:ext cx="1965960" cy="621792"/>
          </a:xfrm>
          <a:prstGeom prst="roundRect">
            <a:avLst/>
          </a:prstGeom>
          <a:solidFill>
            <a:srgbClr val="101A2D"/>
          </a:solidFill>
          <a:ln>
            <a:solidFill>
              <a:srgbClr val="192A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86384" y="3639312"/>
            <a:ext cx="1819656" cy="4389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F0F6FF"/>
                </a:solidFill>
                <a:latin typeface="Aptos"/>
              </a:rPr>
              <a:t>Weak credentials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788920" y="3547872"/>
            <a:ext cx="1737360" cy="621792"/>
          </a:xfrm>
          <a:prstGeom prst="roundRect">
            <a:avLst/>
          </a:prstGeom>
          <a:solidFill>
            <a:srgbClr val="101A2D"/>
          </a:solidFill>
          <a:ln>
            <a:solidFill>
              <a:srgbClr val="192A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862072" y="3639312"/>
            <a:ext cx="1591056" cy="433965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lang="en-US" sz="1050" dirty="0">
                <a:solidFill>
                  <a:srgbClr val="F0F6FF"/>
                </a:solidFill>
                <a:latin typeface="Aptos"/>
              </a:rPr>
              <a:t>Verified authentication result</a:t>
            </a:r>
            <a:endParaRPr sz="1050" b="0" dirty="0">
              <a:solidFill>
                <a:srgbClr val="F0F6FF"/>
              </a:solidFill>
              <a:latin typeface="Aptos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4617720" y="3547872"/>
            <a:ext cx="1691640" cy="621792"/>
          </a:xfrm>
          <a:prstGeom prst="roundRect">
            <a:avLst/>
          </a:prstGeom>
          <a:solidFill>
            <a:srgbClr val="101A2D"/>
          </a:solidFill>
          <a:ln>
            <a:solidFill>
              <a:srgbClr val="192A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690872" y="3639312"/>
            <a:ext cx="1545336" cy="433965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dirty="0">
                <a:solidFill>
                  <a:srgbClr val="F0F6FF"/>
                </a:solidFill>
                <a:latin typeface="Aptos"/>
              </a:rPr>
              <a:t>Unauthorized </a:t>
            </a:r>
            <a:r>
              <a:rPr lang="en-US" sz="1050" dirty="0">
                <a:solidFill>
                  <a:srgbClr val="F0F6FF"/>
                </a:solidFill>
                <a:latin typeface="Aptos"/>
              </a:rPr>
              <a:t>account </a:t>
            </a:r>
            <a:r>
              <a:rPr sz="1050" b="0" dirty="0">
                <a:solidFill>
                  <a:srgbClr val="F0F6FF"/>
                </a:solidFill>
                <a:latin typeface="Aptos"/>
              </a:rPr>
              <a:t>access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0" y="3547872"/>
            <a:ext cx="2240280" cy="621792"/>
          </a:xfrm>
          <a:prstGeom prst="roundRect">
            <a:avLst/>
          </a:prstGeom>
          <a:solidFill>
            <a:srgbClr val="101A2D"/>
          </a:solidFill>
          <a:ln>
            <a:solidFill>
              <a:srgbClr val="192A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73952" y="3639312"/>
            <a:ext cx="2093976" cy="4389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F0F6FF"/>
                </a:solidFill>
                <a:latin typeface="Aptos"/>
              </a:rPr>
              <a:t>High*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778240" y="3547872"/>
            <a:ext cx="2468880" cy="621792"/>
          </a:xfrm>
          <a:prstGeom prst="roundRect">
            <a:avLst/>
          </a:prstGeom>
          <a:solidFill>
            <a:srgbClr val="101A2D"/>
          </a:solidFill>
          <a:ln>
            <a:solidFill>
              <a:srgbClr val="192A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851392" y="3639312"/>
            <a:ext cx="2322576" cy="4389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FFC352"/>
                </a:solidFill>
                <a:latin typeface="Aptos"/>
              </a:rPr>
              <a:t>Unverified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13232" y="4334256"/>
            <a:ext cx="1965960" cy="621792"/>
          </a:xfrm>
          <a:prstGeom prst="roundRect">
            <a:avLst/>
          </a:prstGeom>
          <a:solidFill>
            <a:srgbClr val="141F36"/>
          </a:solidFill>
          <a:ln>
            <a:solidFill>
              <a:srgbClr val="192A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86384" y="4425696"/>
            <a:ext cx="1819656" cy="27238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lang="en-US" sz="1050" b="1" dirty="0">
                <a:solidFill>
                  <a:srgbClr val="F0F6FF"/>
                </a:solidFill>
                <a:latin typeface="Aptos"/>
              </a:rPr>
              <a:t>Sudo misconfiguration</a:t>
            </a:r>
            <a:endParaRPr sz="1050" b="1" dirty="0">
              <a:solidFill>
                <a:srgbClr val="F0F6FF"/>
              </a:solidFill>
              <a:latin typeface="Aptos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2788920" y="4334256"/>
            <a:ext cx="1737360" cy="621792"/>
          </a:xfrm>
          <a:prstGeom prst="roundRect">
            <a:avLst/>
          </a:prstGeom>
          <a:solidFill>
            <a:srgbClr val="141F36"/>
          </a:solidFill>
          <a:ln>
            <a:solidFill>
              <a:srgbClr val="192A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862072" y="4425696"/>
            <a:ext cx="1591056" cy="433965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dirty="0">
                <a:solidFill>
                  <a:srgbClr val="F0F6FF"/>
                </a:solidFill>
                <a:latin typeface="Aptos"/>
              </a:rPr>
              <a:t>`</a:t>
            </a:r>
            <a:r>
              <a:rPr sz="1050" b="0" dirty="0" err="1">
                <a:solidFill>
                  <a:srgbClr val="F0F6FF"/>
                </a:solidFill>
                <a:latin typeface="Aptos"/>
              </a:rPr>
              <a:t>sudo</a:t>
            </a:r>
            <a:r>
              <a:rPr sz="1050" b="0" dirty="0">
                <a:solidFill>
                  <a:srgbClr val="F0F6FF"/>
                </a:solidFill>
                <a:latin typeface="Aptos"/>
              </a:rPr>
              <a:t> -l` output</a:t>
            </a:r>
            <a:r>
              <a:rPr lang="en-US" sz="1050" b="0" dirty="0">
                <a:solidFill>
                  <a:srgbClr val="F0F6FF"/>
                </a:solidFill>
                <a:latin typeface="Aptos"/>
              </a:rPr>
              <a:t> and verified permissions</a:t>
            </a:r>
            <a:endParaRPr sz="1050" b="0" dirty="0">
              <a:solidFill>
                <a:srgbClr val="F0F6FF"/>
              </a:solidFill>
              <a:latin typeface="Aptos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4617720" y="4334256"/>
            <a:ext cx="1691640" cy="621792"/>
          </a:xfrm>
          <a:prstGeom prst="roundRect">
            <a:avLst/>
          </a:prstGeom>
          <a:solidFill>
            <a:srgbClr val="141F36"/>
          </a:solidFill>
          <a:ln>
            <a:solidFill>
              <a:srgbClr val="192A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690872" y="4425696"/>
            <a:ext cx="1545336" cy="4389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F0F6FF"/>
                </a:solidFill>
                <a:latin typeface="Aptos"/>
              </a:rPr>
              <a:t>Privilege escalation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400800" y="4334256"/>
            <a:ext cx="2240280" cy="621792"/>
          </a:xfrm>
          <a:prstGeom prst="roundRect">
            <a:avLst/>
          </a:prstGeom>
          <a:solidFill>
            <a:srgbClr val="141F36"/>
          </a:solidFill>
          <a:ln>
            <a:solidFill>
              <a:srgbClr val="192A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473952" y="4425696"/>
            <a:ext cx="2093976" cy="4389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F0F6FF"/>
                </a:solidFill>
                <a:latin typeface="Aptos"/>
              </a:rPr>
              <a:t>High/Critical*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778240" y="4334256"/>
            <a:ext cx="2468880" cy="621792"/>
          </a:xfrm>
          <a:prstGeom prst="roundRect">
            <a:avLst/>
          </a:prstGeom>
          <a:solidFill>
            <a:srgbClr val="141F36"/>
          </a:solidFill>
          <a:ln>
            <a:solidFill>
              <a:srgbClr val="192A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851392" y="4425696"/>
            <a:ext cx="2322576" cy="4389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FFC352"/>
                </a:solidFill>
                <a:latin typeface="Aptos"/>
              </a:rPr>
              <a:t>Unverified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731520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36D3DC"/>
                </a:solidFill>
                <a:latin typeface="Aptos"/>
              </a:rPr>
              <a:t>08 / REMEDIATION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10972800" cy="56692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F0F6FF"/>
                </a:solidFill>
                <a:latin typeface="Aptos"/>
              </a:rPr>
              <a:t>Recommended security controls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89888"/>
            <a:ext cx="10881360" cy="42062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AAB9CF"/>
                </a:solidFill>
                <a:latin typeface="Aptos"/>
              </a:rPr>
              <a:t>Recommendations should address the confirmed root cause of each finding.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865376"/>
            <a:ext cx="731520" cy="41148"/>
          </a:xfrm>
          <a:prstGeom prst="rect">
            <a:avLst/>
          </a:prstGeom>
          <a:solidFill>
            <a:srgbClr val="36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AAB9CF"/>
                </a:solidFill>
                <a:latin typeface="Aptos"/>
              </a:rPr>
              <a:t>BOUNTY HACKER  /  TRYHACKME LAB REPORT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55664"/>
            <a:ext cx="86868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>
                <a:solidFill>
                  <a:srgbClr val="36D3DC"/>
                </a:solidFill>
                <a:latin typeface="Aptos"/>
              </a:rPr>
              <a:t>09  / 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148840"/>
            <a:ext cx="10652760" cy="713232"/>
          </a:xfrm>
          <a:prstGeom prst="roundRect">
            <a:avLst/>
          </a:prstGeom>
          <a:solidFill>
            <a:srgbClr val="141F36"/>
          </a:solidFill>
          <a:ln>
            <a:solidFill>
              <a:srgbClr val="192A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2313432"/>
            <a:ext cx="457200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36D3DC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258568"/>
            <a:ext cx="2057400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0F6FF"/>
                </a:solidFill>
                <a:latin typeface="Aptos"/>
              </a:rPr>
              <a:t>FTP hardening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2258568"/>
            <a:ext cx="7452360" cy="48013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lang="en-US" sz="1200" b="0" dirty="0">
                <a:solidFill>
                  <a:srgbClr val="AAB9CF"/>
                </a:solidFill>
                <a:latin typeface="Aptos"/>
              </a:rPr>
              <a:t>D</a:t>
            </a:r>
            <a:r>
              <a:rPr lang="en-US" sz="1200" dirty="0">
                <a:solidFill>
                  <a:srgbClr val="AAB9CF"/>
                </a:solidFill>
                <a:latin typeface="Aptos"/>
              </a:rPr>
              <a:t>isable anonymous FTP access when not required; restrict file and directory permissions; remove sensitive information from publicly accessible files.</a:t>
            </a:r>
            <a:endParaRPr sz="1200" b="0" dirty="0">
              <a:solidFill>
                <a:srgbClr val="AAB9CF"/>
              </a:solidFill>
              <a:latin typeface="Apto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3044952"/>
            <a:ext cx="10652760" cy="713232"/>
          </a:xfrm>
          <a:prstGeom prst="roundRect">
            <a:avLst/>
          </a:prstGeom>
          <a:solidFill>
            <a:srgbClr val="141F36"/>
          </a:solidFill>
          <a:ln>
            <a:solidFill>
              <a:srgbClr val="192A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" y="3209544"/>
            <a:ext cx="457200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36D3DC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3154680"/>
            <a:ext cx="2057400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0F6FF"/>
                </a:solidFill>
                <a:latin typeface="Aptos"/>
              </a:rPr>
              <a:t>Credential security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3154680"/>
            <a:ext cx="7452360" cy="48013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lang="en-US" sz="1200" b="0" dirty="0">
                <a:solidFill>
                  <a:srgbClr val="AAB9CF"/>
                </a:solidFill>
                <a:latin typeface="Aptos"/>
              </a:rPr>
              <a:t>Use unique, strong passwords or SSH keys; disable password-based SSH authentication where appropriate; monitor repeated failed login attempts.</a:t>
            </a:r>
            <a:endParaRPr sz="1200" b="0" dirty="0">
              <a:solidFill>
                <a:srgbClr val="AAB9CF"/>
              </a:solidFill>
              <a:latin typeface="Aptos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77240" y="3941064"/>
            <a:ext cx="10652760" cy="713232"/>
          </a:xfrm>
          <a:prstGeom prst="roundRect">
            <a:avLst/>
          </a:prstGeom>
          <a:solidFill>
            <a:srgbClr val="141F36"/>
          </a:solidFill>
          <a:ln>
            <a:solidFill>
              <a:srgbClr val="192A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60120" y="4105656"/>
            <a:ext cx="457200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36D3DC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050792"/>
            <a:ext cx="2057400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0F6FF"/>
                </a:solidFill>
                <a:latin typeface="Aptos"/>
              </a:rPr>
              <a:t>Least privilege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80" y="4050792"/>
            <a:ext cx="7452360" cy="48013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lang="en-US" sz="1200" dirty="0">
                <a:solidFill>
                  <a:srgbClr val="AAB9CF"/>
                </a:solidFill>
                <a:latin typeface="Aptos"/>
              </a:rPr>
              <a:t>Grant only the </a:t>
            </a:r>
            <a:r>
              <a:rPr lang="en-US" sz="1200" dirty="0" err="1">
                <a:solidFill>
                  <a:srgbClr val="AAB9CF"/>
                </a:solidFill>
                <a:latin typeface="Aptos"/>
              </a:rPr>
              <a:t>sudo</a:t>
            </a:r>
            <a:r>
              <a:rPr lang="en-US" sz="1200" dirty="0">
                <a:solidFill>
                  <a:srgbClr val="AAB9CF"/>
                </a:solidFill>
                <a:latin typeface="Aptos"/>
              </a:rPr>
              <a:t> permissions required for each role; restrict access to powerful utilities; review privileged permissions regularly.</a:t>
            </a:r>
            <a:endParaRPr sz="1200" b="0" dirty="0">
              <a:solidFill>
                <a:srgbClr val="AAB9CF"/>
              </a:solidFill>
              <a:latin typeface="Aptos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77240" y="4837176"/>
            <a:ext cx="10652760" cy="713232"/>
          </a:xfrm>
          <a:prstGeom prst="roundRect">
            <a:avLst/>
          </a:prstGeom>
          <a:solidFill>
            <a:srgbClr val="141F36"/>
          </a:solidFill>
          <a:ln>
            <a:solidFill>
              <a:srgbClr val="192A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60120" y="5001768"/>
            <a:ext cx="457200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36D3DC"/>
                </a:solidFill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4946904"/>
            <a:ext cx="2057400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0F6FF"/>
                </a:solidFill>
                <a:latin typeface="Aptos"/>
              </a:rPr>
              <a:t>Detection &amp; response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11880" y="4946904"/>
            <a:ext cx="7452360" cy="48013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lang="en-US" sz="1200" b="0" dirty="0">
                <a:solidFill>
                  <a:srgbClr val="AAB9CF"/>
                </a:solidFill>
                <a:latin typeface="Aptos"/>
              </a:rPr>
              <a:t>Monitor authentication logs, unusual file access, and privileged command execution; investigate suspicious activity and retain relevant logs.</a:t>
            </a:r>
            <a:endParaRPr sz="1200" b="0" dirty="0">
              <a:solidFill>
                <a:srgbClr val="AAB9CF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731520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36D3DC"/>
                </a:solidFill>
                <a:latin typeface="Aptos"/>
              </a:rPr>
              <a:t>09 / WRAP-UP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10972800" cy="56692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F0F6FF"/>
                </a:solidFill>
                <a:latin typeface="Aptos"/>
              </a:rPr>
              <a:t>Conclusion &amp; lessons learned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89888"/>
            <a:ext cx="10881360" cy="31085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lang="en-US" sz="1300" b="0" dirty="0">
                <a:solidFill>
                  <a:srgbClr val="AAB9CF"/>
                </a:solidFill>
                <a:latin typeface="Aptos"/>
              </a:rPr>
              <a:t>The assessment demonstrates how systematic enumeration, evidence-based validation, and practical remediation support effective security testing. </a:t>
            </a:r>
            <a:endParaRPr sz="1300" b="0" dirty="0">
              <a:solidFill>
                <a:srgbClr val="AAB9CF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21792" y="1865376"/>
            <a:ext cx="731520" cy="41148"/>
          </a:xfrm>
          <a:prstGeom prst="rect">
            <a:avLst/>
          </a:prstGeom>
          <a:solidFill>
            <a:srgbClr val="36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AAB9CF"/>
                </a:solidFill>
                <a:latin typeface="Aptos"/>
              </a:rPr>
              <a:t>BOUNTY HACKER  /  TRYHACKME LAB REPORT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55664"/>
            <a:ext cx="86868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>
                <a:solidFill>
                  <a:srgbClr val="36D3DC"/>
                </a:solidFill>
                <a:latin typeface="Aptos"/>
              </a:rPr>
              <a:t>10  / 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64308" y="2450634"/>
            <a:ext cx="3429000" cy="1508760"/>
          </a:xfrm>
          <a:prstGeom prst="roundRect">
            <a:avLst/>
          </a:prstGeom>
          <a:solidFill>
            <a:srgbClr val="141F36"/>
          </a:solidFill>
          <a:ln>
            <a:solidFill>
              <a:srgbClr val="192A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628900" y="2522466"/>
            <a:ext cx="3099816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dirty="0">
                <a:solidFill>
                  <a:srgbClr val="36D3DC"/>
                </a:solidFill>
                <a:latin typeface="Aptos"/>
              </a:rPr>
              <a:t>TECHNICAL 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1" y="2736675"/>
            <a:ext cx="3099816" cy="1034129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lang="en-US" sz="1500" dirty="0">
                <a:solidFill>
                  <a:srgbClr val="F0F6FF"/>
                </a:solidFill>
                <a:latin typeface="Aptos"/>
              </a:rPr>
              <a:t>Service enumeration using Nmap, FTP/SSH investigation, Linux permission review, and evidence collection in an authorized lab. </a:t>
            </a:r>
            <a:endParaRPr sz="1500" b="0" dirty="0">
              <a:solidFill>
                <a:srgbClr val="F0F6FF"/>
              </a:solidFill>
              <a:latin typeface="Apto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103620" y="2450634"/>
            <a:ext cx="3429000" cy="1508760"/>
          </a:xfrm>
          <a:prstGeom prst="roundRect">
            <a:avLst/>
          </a:prstGeom>
          <a:solidFill>
            <a:srgbClr val="141F36"/>
          </a:solidFill>
          <a:ln>
            <a:solidFill>
              <a:srgbClr val="192A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91072" y="2519530"/>
            <a:ext cx="3099816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dirty="0">
                <a:solidFill>
                  <a:srgbClr val="FFC352"/>
                </a:solidFill>
                <a:latin typeface="Aptos"/>
              </a:rPr>
              <a:t>REPORTING LEARNING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91072" y="2736675"/>
            <a:ext cx="3099816" cy="126496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lang="en-US" sz="1500" b="0" dirty="0">
                <a:solidFill>
                  <a:srgbClr val="F0F6FF"/>
                </a:solidFill>
                <a:latin typeface="Aptos"/>
              </a:rPr>
              <a:t>Documenting verified findings, recording reproducible evidence, assessing risk carefully, and recommending practical security controls. </a:t>
            </a:r>
            <a:endParaRPr sz="1500" b="0" dirty="0">
              <a:solidFill>
                <a:srgbClr val="F0F6FF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68680" y="4613595"/>
            <a:ext cx="10424160" cy="60324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200" b="1" dirty="0">
                <a:solidFill>
                  <a:srgbClr val="36D3DC"/>
                </a:solidFill>
                <a:latin typeface="Aptos"/>
              </a:rPr>
              <a:t>Thank you 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193</TotalTime>
  <Words>976</Words>
  <Application>Microsoft Office PowerPoint</Application>
  <PresentationFormat>Widescreen</PresentationFormat>
  <Paragraphs>171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NIKHIL PATEL</dc:creator>
  <cp:keywords/>
  <dc:description>generated using python-pptx</dc:description>
  <cp:lastModifiedBy>Koushlesh Patel</cp:lastModifiedBy>
  <cp:revision>10</cp:revision>
  <dcterms:created xsi:type="dcterms:W3CDTF">2013-01-27T09:14:16Z</dcterms:created>
  <dcterms:modified xsi:type="dcterms:W3CDTF">2026-10-17T09:13:46Z</dcterms:modified>
  <cp:category/>
</cp:coreProperties>
</file>